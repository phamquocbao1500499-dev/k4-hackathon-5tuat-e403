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e59b150fa4720" /><Relationship Type="http://schemas.openxmlformats.org/officeDocument/2006/relationships/extended-properties" Target="/docProps/app.xml" Id="Rc8610f75a0454b3e" /><Relationship Type="http://schemas.openxmlformats.org/officeDocument/2006/relationships/officeDocument" Target="/ppt/presentation.xml" Id="R9aa57fd6390c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bb2a35b5544686"/>
  </p:sldMasterIdLst>
  <p:notesMasterIdLst>
    <p:notesMasterId xmlns:r="http://schemas.openxmlformats.org/officeDocument/2006/relationships" r:id="R9d407b1d747d4945"/>
  </p:notesMasterIdLst>
  <p:sldIdLst>
    <p:sldId xmlns:r="http://schemas.openxmlformats.org/officeDocument/2006/relationships" id="256" r:id="Rf40ea22717b847ef"/>
    <p:sldId xmlns:r="http://schemas.openxmlformats.org/officeDocument/2006/relationships" id="257" r:id="Rfb880321dc53462c"/>
    <p:sldId xmlns:r="http://schemas.openxmlformats.org/officeDocument/2006/relationships" id="258" r:id="R5c04bee527394af0"/>
    <p:sldId xmlns:r="http://schemas.openxmlformats.org/officeDocument/2006/relationships" id="259" r:id="R4d5eb4d11cbe465d"/>
    <p:sldId xmlns:r="http://schemas.openxmlformats.org/officeDocument/2006/relationships" id="260" r:id="R517ef776ddac4b36"/>
    <p:sldId xmlns:r="http://schemas.openxmlformats.org/officeDocument/2006/relationships" id="261" r:id="R309a1788cc8f4fd9"/>
    <p:sldId xmlns:r="http://schemas.openxmlformats.org/officeDocument/2006/relationships" id="262" r:id="R5deda78123964dd3"/>
    <p:sldId xmlns:r="http://schemas.openxmlformats.org/officeDocument/2006/relationships" id="263" r:id="R19a20092787d43e1"/>
    <p:sldId xmlns:r="http://schemas.openxmlformats.org/officeDocument/2006/relationships" id="264" r:id="Rafd1d79cfe5a4972"/>
    <p:sldId xmlns:r="http://schemas.openxmlformats.org/officeDocument/2006/relationships" id="265" r:id="R6eeeaf64ef5d4e46"/>
    <p:sldId xmlns:r="http://schemas.openxmlformats.org/officeDocument/2006/relationships" id="266" r:id="Rc26a654a97b94bd5"/>
    <p:sldId xmlns:r="http://schemas.openxmlformats.org/officeDocument/2006/relationships" id="267" r:id="Rda025b4422a24743"/>
    <p:sldId xmlns:r="http://schemas.openxmlformats.org/officeDocument/2006/relationships" id="268" r:id="R03e755d682d041d2"/>
    <p:sldId xmlns:r="http://schemas.openxmlformats.org/officeDocument/2006/relationships" id="269" r:id="R2241b3aaaefe4483"/>
    <p:sldId xmlns:r="http://schemas.openxmlformats.org/officeDocument/2006/relationships" id="270" r:id="R94650628c0254f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f10c3f54814c01" /><Relationship Type="http://schemas.openxmlformats.org/officeDocument/2006/relationships/slideMaster" Target="/ppt/slideMasters/slideMaster1.xml" Id="Rd1bb2a35b5544686" /><Relationship Type="http://schemas.openxmlformats.org/officeDocument/2006/relationships/notesMaster" Target="/ppt/notesMasters/notesMaster1.xml" Id="R9d407b1d747d4945" /><Relationship Type="http://schemas.openxmlformats.org/officeDocument/2006/relationships/presProps" Target="/ppt/presProps.xml" Id="Ra553af125ce54ab3" /><Relationship Type="http://schemas.openxmlformats.org/officeDocument/2006/relationships/tableStyles" Target="/ppt/tableStyles.xml" Id="R3030f74259234cbf" /><Relationship Type="http://schemas.openxmlformats.org/officeDocument/2006/relationships/slide" Target="/ppt/slides/slide1.xml" Id="Rf40ea22717b847ef" /><Relationship Type="http://schemas.openxmlformats.org/officeDocument/2006/relationships/slide" Target="/ppt/slides/slide2.xml" Id="Rfb880321dc53462c" /><Relationship Type="http://schemas.openxmlformats.org/officeDocument/2006/relationships/slide" Target="/ppt/slides/slide3.xml" Id="R5c04bee527394af0" /><Relationship Type="http://schemas.openxmlformats.org/officeDocument/2006/relationships/slide" Target="/ppt/slides/slide4.xml" Id="R4d5eb4d11cbe465d" /><Relationship Type="http://schemas.openxmlformats.org/officeDocument/2006/relationships/slide" Target="/ppt/slides/slide5.xml" Id="R517ef776ddac4b36" /><Relationship Type="http://schemas.openxmlformats.org/officeDocument/2006/relationships/slide" Target="/ppt/slides/slide6.xml" Id="R309a1788cc8f4fd9" /><Relationship Type="http://schemas.openxmlformats.org/officeDocument/2006/relationships/slide" Target="/ppt/slides/slide7.xml" Id="R5deda78123964dd3" /><Relationship Type="http://schemas.openxmlformats.org/officeDocument/2006/relationships/slide" Target="/ppt/slides/slide8.xml" Id="R19a20092787d43e1" /><Relationship Type="http://schemas.openxmlformats.org/officeDocument/2006/relationships/slide" Target="/ppt/slides/slide9.xml" Id="Rafd1d79cfe5a4972" /><Relationship Type="http://schemas.openxmlformats.org/officeDocument/2006/relationships/slide" Target="/ppt/slides/slide10.xml" Id="R6eeeaf64ef5d4e46" /><Relationship Type="http://schemas.openxmlformats.org/officeDocument/2006/relationships/slide" Target="/ppt/slides/slide11.xml" Id="Rc26a654a97b94bd5" /><Relationship Type="http://schemas.openxmlformats.org/officeDocument/2006/relationships/slide" Target="/ppt/slides/slide12.xml" Id="Rda025b4422a24743" /><Relationship Type="http://schemas.openxmlformats.org/officeDocument/2006/relationships/slide" Target="/ppt/slides/slide13.xml" Id="R03e755d682d041d2" /><Relationship Type="http://schemas.openxmlformats.org/officeDocument/2006/relationships/slide" Target="/ppt/slides/slide14.xml" Id="R2241b3aaaefe4483" /><Relationship Type="http://schemas.openxmlformats.org/officeDocument/2006/relationships/slide" Target="/ppt/slides/slide15.xml" Id="R94650628c025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057a185450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1ae4ad6c7b446f" /><Relationship Type="http://schemas.openxmlformats.org/officeDocument/2006/relationships/notesMaster" Target="/ppt/notesMasters/notesMaster1.xml" Id="Reb7262369801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9f1e6653bc47ff" /><Relationship Type="http://schemas.openxmlformats.org/officeDocument/2006/relationships/notesMaster" Target="/ppt/notesMasters/notesMaster1.xml" Id="R3ed51d02facb48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e6e7b0cc0c4305" /><Relationship Type="http://schemas.openxmlformats.org/officeDocument/2006/relationships/notesMaster" Target="/ppt/notesMasters/notesMaster1.xml" Id="Re936dacc4c18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87cff20c464634" /><Relationship Type="http://schemas.openxmlformats.org/officeDocument/2006/relationships/notesMaster" Target="/ppt/notesMasters/notesMaster1.xml" Id="R43cb5c9710e949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72857fa334bab" /><Relationship Type="http://schemas.openxmlformats.org/officeDocument/2006/relationships/notesMaster" Target="/ppt/notesMasters/notesMaster1.xml" Id="R34a2ec02268a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c7a0b22145487b" /><Relationship Type="http://schemas.openxmlformats.org/officeDocument/2006/relationships/notesMaster" Target="/ppt/notesMasters/notesMaster1.xml" Id="Rf571d568dc94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348dd74b0b46ec" /><Relationship Type="http://schemas.openxmlformats.org/officeDocument/2006/relationships/notesMaster" Target="/ppt/notesMasters/notesMaster1.xml" Id="R25e9e690f66149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9ec69e0aa419d" /><Relationship Type="http://schemas.openxmlformats.org/officeDocument/2006/relationships/notesMaster" Target="/ppt/notesMasters/notesMaster1.xml" Id="Rce4db7d331b94b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d89212a436450d" /><Relationship Type="http://schemas.openxmlformats.org/officeDocument/2006/relationships/notesMaster" Target="/ppt/notesMasters/notesMaster1.xml" Id="Rdfa1e17c64d347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c7e0b31ea4871" /><Relationship Type="http://schemas.openxmlformats.org/officeDocument/2006/relationships/notesMaster" Target="/ppt/notesMasters/notesMaster1.xml" Id="R4afab3fa158046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d55fab5a9d4ae5" /><Relationship Type="http://schemas.openxmlformats.org/officeDocument/2006/relationships/notesMaster" Target="/ppt/notesMasters/notesMaster1.xml" Id="R086a1e88939a42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662de9a1a34fce" /><Relationship Type="http://schemas.openxmlformats.org/officeDocument/2006/relationships/notesMaster" Target="/ppt/notesMasters/notesMaster1.xml" Id="R7023a18a24514b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76cec2497d440d" /><Relationship Type="http://schemas.openxmlformats.org/officeDocument/2006/relationships/notesMaster" Target="/ppt/notesMasters/notesMaster1.xml" Id="R5bef3ee01bc043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d4de07b4d34ae9" /><Relationship Type="http://schemas.openxmlformats.org/officeDocument/2006/relationships/notesMaster" Target="/ppt/notesMasters/notesMaster1.xml" Id="Rd44b9d02ccd948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91ae2d2ebf4ae1" /><Relationship Type="http://schemas.openxmlformats.org/officeDocument/2006/relationships/notesMaster" Target="/ppt/notesMasters/notesMaster1.xml" Id="R7f5771540ff4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472d074ac44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dff9ee439e4044" /><Relationship Type="http://schemas.openxmlformats.org/officeDocument/2006/relationships/slideLayout" Target="/ppt/slideLayouts/slideLayout1.xml" Id="R95bf48dd15ba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f48dd15ba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d8f4fbbc14a58" /><Relationship Type="http://schemas.openxmlformats.org/officeDocument/2006/relationships/notesSlide" Target="/ppt/notesSlides/notesSlide1.xml" Id="Rc4ce42cfce28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b1dc74d414b03" /><Relationship Type="http://schemas.openxmlformats.org/officeDocument/2006/relationships/notesSlide" Target="/ppt/notesSlides/notesSlide2.xml" Id="R55a79bb55a4c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b14fedce549ef" /><Relationship Type="http://schemas.openxmlformats.org/officeDocument/2006/relationships/notesSlide" Target="/ppt/notesSlides/notesSlide3.xml" Id="Rae05a3428c70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7c1d0031748d3" /><Relationship Type="http://schemas.openxmlformats.org/officeDocument/2006/relationships/notesSlide" Target="/ppt/notesSlides/notesSlide4.xml" Id="Rf06d6d6525f14d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dac94ed224342" /><Relationship Type="http://schemas.openxmlformats.org/officeDocument/2006/relationships/notesSlide" Target="/ppt/notesSlides/notesSlide5.xml" Id="Rf2ee570a25114f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ab38008ae409d" /><Relationship Type="http://schemas.openxmlformats.org/officeDocument/2006/relationships/notesSlide" Target="/ppt/notesSlides/notesSlide6.xml" Id="R66ec46d3287546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18e18d874b2c" /><Relationship Type="http://schemas.openxmlformats.org/officeDocument/2006/relationships/notesSlide" Target="/ppt/notesSlides/notesSlide7.xml" Id="Red7b9c44dd78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8bc17e5af4f89" /><Relationship Type="http://schemas.openxmlformats.org/officeDocument/2006/relationships/notesSlide" Target="/ppt/notesSlides/notesSlide8.xml" Id="Rb9fd75caa73e43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1693d6a1248fd" /><Relationship Type="http://schemas.openxmlformats.org/officeDocument/2006/relationships/notesSlide" Target="/ppt/notesSlides/notesSlide9.xml" Id="R6f02ee06a46742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75e5147e14f97" /><Relationship Type="http://schemas.openxmlformats.org/officeDocument/2006/relationships/notesSlide" Target="/ppt/notesSlides/notesSlide10.xml" Id="R5bcbcb236909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66a79345489a" /><Relationship Type="http://schemas.openxmlformats.org/officeDocument/2006/relationships/notesSlide" Target="/ppt/notesSlides/notesSlide11.xml" Id="Raa147552c4284d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15a47f794b0c" /><Relationship Type="http://schemas.openxmlformats.org/officeDocument/2006/relationships/notesSlide" Target="/ppt/notesSlides/notesSlide12.xml" Id="R3f37fca32e624a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545caf02e4370" /><Relationship Type="http://schemas.openxmlformats.org/officeDocument/2006/relationships/notesSlide" Target="/ppt/notesSlides/notesSlide13.xml" Id="Rd2c385e8c0194a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87373fbfc4e79" /><Relationship Type="http://schemas.openxmlformats.org/officeDocument/2006/relationships/notesSlide" Target="/ppt/notesSlides/notesSlide14.xml" Id="R70676a27f8eb45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e1069c9424bf9" /><Relationship Type="http://schemas.openxmlformats.org/officeDocument/2006/relationships/notesSlide" Target="/ppt/notesSlides/notesSlide15.xml" Id="Rd7a00710131048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269B5FD-CE3A-43B2-BFCE-0C0E449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531839-EC9B-4851-AF30-4570323C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D5DF"/>
                </a:solidFill>
              </a:defRPr>
            </a:pPr>
            <a:r>
              <a:rPr sz="975" b="1">
                <a:solidFill>
                  <a:srgbClr val="C8D5DF"/>
                </a:solidFill>
              </a:rPr>
              <a:t>DATA-FIRST PRODUCT REPORT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24ADE26-1F1D-4A61-BD46-D0F19B25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VLearn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Active Recall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8E622F-2D7F-4643-AB85-4001405F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6E1E9"/>
                </a:solidFill>
              </a:defRPr>
            </a:pPr>
            <a:r>
              <a:rPr sz="1950" b="0">
                <a:solidFill>
                  <a:srgbClr val="D6E1E9"/>
                </a:solidFill>
              </a:rPr>
              <a:t>Dùng số liệu để chọn đúng vấn đề.</a:t>
            </a:r>
          </a:p>
          <a:p xmlns:a="http://schemas.openxmlformats.org/drawingml/2006/main">
            <a:pPr algn="l">
              <a:defRPr sz="1950" b="0">
                <a:solidFill>
                  <a:srgbClr val="D6E1E9"/>
                </a:solidFill>
              </a:defRPr>
            </a:pPr>
            <a:r>
              <a:rPr sz="1950" b="0">
                <a:solidFill>
                  <a:srgbClr val="D6E1E9"/>
                </a:solidFill>
              </a:rPr>
              <a:t>Dùng workflow để biến bằng chứng thành trải nghiệm.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5016224-28E4-4F10-964D-AAEEF441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620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21E1F6-0728-402D-8B50-67079FAC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620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99,88%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A487DD-0B92-4AFA-AA55-E0F72E38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Tutor chưa chủ động</a:t>
            </a:r>
          </a:p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kiểm tra hiểu bài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3C33F0F-6B8C-4AA3-A29F-C774DCD1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361E3C-84E6-4814-8F19-CEC2DD75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3B89C"/>
                </a:solidFill>
              </a:defRPr>
            </a:pPr>
            <a:r>
              <a:rPr sz="3600" b="1">
                <a:solidFill>
                  <a:srgbClr val="43B89C"/>
                </a:solidFill>
              </a:rPr>
              <a:t>88,88%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5F7C074-824A-4C82-9F2D-D62FB552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90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Sẵn sàng làm</a:t>
            </a:r>
          </a:p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quiz ngắn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4A3F44-D3CF-437C-AADD-E94456E7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Nhóm 5tuat · 31/07/2026</a:t>
            </a:r>
          </a:p>
        </p:txBody>
      </p:sp>
    </p:spTree>
    <p:extLst>
      <p:ext uri="{BB962C8B-B14F-4D97-AF65-F5344CB8AC3E}">
        <p14:creationId xmlns:p14="http://schemas.microsoft.com/office/powerpoint/2010/main" val="1870411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C5DBD32-C2BD-4715-B493-E3D2863E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B110CF1-57E8-4739-905C-A6C4080E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01 · TÍN HIỆU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C9A5DE4-C9F2-438F-90AC-DFAB8FDB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Ba con số đủ để định hình toàn bộ sản phẩm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CCA2F4-8F76-49A3-9240-A2911CB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7D"/>
                </a:solidFill>
              </a:defRPr>
            </a:pPr>
            <a:r>
              <a:rPr sz="1275" b="0">
                <a:solidFill>
                  <a:srgbClr val="68737D"/>
                </a:solidFill>
              </a:rPr>
              <a:t>Khoảng trống vận hành, nhu cầu người dùng và chất lượng AI hiện tại.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33212DB-98DA-41B6-B5D2-72CB923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28E926-7828-4DFF-B9AD-F7E982B1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99,88%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14C505-FF7F-449B-AAA8-D1AAE17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Tutor đang thụ động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653937-93E5-4407-84D3-36EC692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2.515/2.518 lượt chat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1D9E2AB-25FB-41BD-A13E-0EACBA45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9945F0-9E88-46B6-926C-7270DD8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3B89C"/>
                </a:solidFill>
              </a:defRPr>
            </a:pPr>
            <a:r>
              <a:rPr sz="4350" b="1">
                <a:solidFill>
                  <a:srgbClr val="43B89C"/>
                </a:solidFill>
              </a:rPr>
              <a:t>88,88%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05B569-A168-4752-9A8E-06FD756B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Người học muốn quiz ngắn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173AA3-18D3-436F-87FC-2298675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32/36 học viên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609B787B-7E59-4FCC-9250-1A57C89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DC216FE-DDA0-4B72-BFFE-B11605E7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64545"/>
                </a:solidFill>
              </a:defRPr>
            </a:pPr>
            <a:r>
              <a:rPr sz="4350" b="1">
                <a:solidFill>
                  <a:srgbClr val="D64545"/>
                </a:solidFill>
              </a:rPr>
              <a:t>70%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2CA4C3-6A4A-4467-AEAE-F3BF97C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AI pass exact-match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3B71271-CB14-4BC3-BC68-8BDB1B02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14/20 case; mục tiêu 85%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368E14-8DD1-4EF0-973F-07A5992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Cơ hội đã rõ. Rủi ro cũng đã rõ.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0DFC676-6059-4757-82A0-D7CEE8C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7D"/>
                </a:solidFill>
              </a:defRPr>
            </a:pPr>
            <a:r>
              <a:rPr sz="1425" b="0">
                <a:solidFill>
                  <a:srgbClr val="68737D"/>
                </a:solidFill>
              </a:rPr>
              <a:t>Việc tiếp theo không phải thêm tính năng, mà là đóng khoảng cách chất lượng.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CCB605-E8D2-49B4-A6EE-16A6201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53F0A43-88F5-4D33-AB69-1586CED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8679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A7141A5E-D77A-4660-BD54-A0054B87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A4C46C-038D-4C31-86D7-AE98CEA7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02 · WORKFLOW HIỆN TẠI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C59DC8C-E65E-4635-8AB2-95AC9301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Lỗ hổng chỉ lộ ra khi chi phí sửa sai đã phát sinh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FB975BE-75EE-43B0-9CD0-8118990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00FD03-0054-4BEC-A585-B75B5C99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7D"/>
                </a:solidFill>
              </a:defRPr>
            </a:pPr>
            <a:r>
              <a:rPr sz="1050" b="1">
                <a:solidFill>
                  <a:srgbClr val="68737D"/>
                </a:solidFill>
              </a:rPr>
              <a:t>HÀNH TRÌNH HIỆN TẠI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660012FF-63A7-49D9-9703-E61454B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B80A20-8BCD-4593-99B2-1EDFAFC5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DE8C5A-7B71-4FD5-BD65-2710C712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Xem bài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3AD61BA-EAC5-4107-966A-C7B6549C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Tiếp nhận thụ động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94270D-42F8-4F7D-BF0B-4276981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0813590-624F-4339-BEDD-A1344E8F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EC5353-42A3-4522-8579-B3DB716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905C97-3C4D-4D82-9905-EF2FC7D5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Nghĩ đã hiểu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902228B-19A9-476E-9419-89D113D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E9DE"/>
                </a:solidFill>
              </a:defRPr>
            </a:pPr>
            <a:r>
              <a:rPr sz="1125" b="0">
                <a:solidFill>
                  <a:srgbClr val="FFE9DE"/>
                </a:solidFill>
              </a:rPr>
              <a:t>Không có checkpoint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79D8FB1-EACA-4C8D-A287-EDAD4AE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6AF335F8-D636-4695-991E-05B2284F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43FACC-7944-4AE8-93B1-FBEA6074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0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8EE7C4C-9DC7-4974-A926-C962913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Làm bài lớn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7DBD20C-9A92-4A56-8446-EFA37B8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957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Áp dụng kiến thức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C7CCE5A-07F3-4407-810C-E444402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94551568-C891-4F1C-8EFD-59D61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5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4B93F48-B51B-4558-8F98-8984135D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9BB6271-40DB-4B84-A031-FDDC63F8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Phát hiện sai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E72D60B-EA32-44A3-8490-8D65DA0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957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Misconception lộ ra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565CF9A-0460-4EE7-830A-9DCB5E9E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23BB437E-E1CC-466F-877A-043FBD0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47950"/>
            <a:ext cx="1847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5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F2173E9-5120-46ED-96E4-2EB17B2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00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9A823D4-2E7C-4803-98E2-6BA1ED2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575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Làm lại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085E978-4F31-4129-B0BC-C0E94C17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957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Mất 2–3 giờ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A0FEC76-FB5E-498F-BF01-DC3DFCE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Điểm gãy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A58747A-B516-4CBD-8BD0-42856DE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Không có bước nào xác nhận “đã hiểu đúng” trước khi học viên cam kết thời gian cho bài tập lớn.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23B7E3C-2E58-460F-97EB-22CE7237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18CD502-59DA-4FEF-BAE2-6CD20C1A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0718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8AB03774-664E-4559-96D4-66B3EA6F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D4CFCB0-D757-4518-B92D-D1A9DC2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03 · WORKFLOW ĐỀ XUẤT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BF9F4C-E472-464D-9F17-AE0F5DE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Active Recall đặt checkpoint đúng trước thời điểm gây tổn thất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DD811A39-8425-4212-95D5-F2765627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829528-12AE-43DE-AA97-ADCEEA6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7D"/>
                </a:solidFill>
              </a:defRPr>
            </a:pPr>
            <a:r>
              <a:rPr sz="1050" b="1">
                <a:solidFill>
                  <a:srgbClr val="68737D"/>
                </a:solidFill>
              </a:rPr>
              <a:t>WORKFLOW MỚI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D1C3BEC2-95D3-4278-BAA9-455DE3AA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01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92A400-6A25-4F6D-8A83-CFE3119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Xem bài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D338C9-B88F-482B-BE03-B550E9D8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87BE5EF-6414-4E2B-8EA8-AAF01CB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201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3DA781C-3DC8-42C3-AC81-B94083D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Quiz 3 câu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8D8E28-FCB9-4F8F-8DA1-9E226D0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FDE18E89-4F3C-4A93-8860-6FC0E44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EFC3F6-9BF4-47DD-83AC-814AD3C2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Phát hiện lỗ hổng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848938-E8C7-4A35-B411-3404F9D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711A5B6-607D-4ED0-A1E6-780D785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3314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AE74D0-E316-4695-BC28-2267CF3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Sửa hiểu sai → làm bài lớn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7DA4521-563B-44C2-9F42-21BBF0D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277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A46EC1-17CE-4548-8879-980C83D6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Tác động kỳ vọng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9E5BDF-E03C-41C9-99FB-6B39BACC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38650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Dời thời điểm phát hiện lỗi lên trước → giảm rework → tăng tự tin khi áp dụng.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CD63D2C-ABA6-4412-B60C-CD88B4F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19650"/>
            <a:ext cx="843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</a:defRPr>
            </a:pPr>
            <a:r>
              <a:rPr sz="1200" b="0">
                <a:solidFill>
                  <a:srgbClr val="68737D"/>
                </a:solidFill>
              </a:rPr>
              <a:t>Nếu chưa chắc, AI hỏi lại. Nếu cần người hỗ trợ, học viên tự xác nhận gửi TA.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373A15-3E77-4558-B535-82EE21D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77FB789-C273-4358-A265-A8C19274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0236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501FFC1-0A07-4BE7-B52B-D920348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BA4C585-149A-4D59-BD0C-E2D74CB6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04 · NHU CẦU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9394D89-4DEB-4220-ADD3-287C3CF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Khảo sát N=36 cho thấy nhu cầu cao nhưng có điều kiện kiểm soát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167CC93-5175-4063-A0DE-9842D931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335809-957D-4EA2-A0B2-86394B4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Sẵn sàng làm quiz nếu ngắn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BEE7942-1A4F-40D2-8E7C-99BF8B7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EC125AC-3338-43DA-BA5C-8F2CEE07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94266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E0FF52-2376-40EC-AA78-2E24A2F8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3B89C"/>
                </a:solidFill>
              </a:defRPr>
            </a:pPr>
            <a:r>
              <a:rPr sz="1275" b="1">
                <a:solidFill>
                  <a:srgbClr val="43B89C"/>
                </a:solidFill>
              </a:rPr>
              <a:t>32/36 · 88,88%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F0952C-DC57-4642-AA63-CFCC11B6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Sẵn sàng chia sẻ lịch sử sai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E7D52EC-95B3-4A7F-9EFD-93333469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699E28A3-FEFF-4AA6-ACC6-C5D0FE3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715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BA486A-E756-4BCB-AC33-0286B0B2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83B56"/>
                </a:solidFill>
              </a:defRPr>
            </a:pPr>
            <a:r>
              <a:rPr sz="1275" b="1">
                <a:solidFill>
                  <a:srgbClr val="183B56"/>
                </a:solidFill>
              </a:rPr>
              <a:t>33/36 · 91,66%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2D73305-5995-43EC-A316-7E619633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Đồng ý chuyển vùng slide cho TA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1A8BAF7-3E85-4B66-8BE9-B86CC07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8848BBF0-EAD4-4B5B-BA5C-5D840E7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694266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427B894-B345-455F-AAE9-C60E949E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3B89C"/>
                </a:solidFill>
              </a:defRPr>
            </a:pPr>
            <a:r>
              <a:rPr sz="1275" b="1">
                <a:solidFill>
                  <a:srgbClr val="43B89C"/>
                </a:solidFill>
              </a:rPr>
              <a:t>32/36 · 88,88%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09BDD4D-EEF6-4414-9847-8709658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Muốn được hỏi trước khi gửi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5ABD5DDC-C351-4A5C-87C6-BDCBACB5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93666C3-48A2-44C8-BEDF-2A573691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303741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B5C7C55-7FCB-44FC-8348-D8A0245C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14/36 · 38,9%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E1BDE454-46A6-4F3F-835A-FBB97FC7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3067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2D1EDC4-87BB-4D82-A84A-251C0D3F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D0DE"/>
                </a:solidFill>
              </a:defRPr>
            </a:pPr>
            <a:r>
              <a:rPr sz="1050" b="1">
                <a:solidFill>
                  <a:srgbClr val="BCD0DE"/>
                </a:solidFill>
              </a:rPr>
              <a:t>QUYẾT ĐỊNH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19A3FB7-F1DD-4F19-B0F6-BE38976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3 câu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A710CF-C965-4FDE-8104-01B1EA72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E1E9"/>
                </a:solidFill>
              </a:defRPr>
            </a:pPr>
            <a:r>
              <a:rPr sz="1425" b="1">
                <a:solidFill>
                  <a:srgbClr val="D6E1E9"/>
                </a:solidFill>
              </a:rPr>
              <a:t>Quiz ngắn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E938311-2060-4DD9-BE8B-8AB5D931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Xác nhận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9A43A45-299E-4438-B275-4DAB2CF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E1E9"/>
                </a:solidFill>
              </a:defRPr>
            </a:pPr>
            <a:r>
              <a:rPr sz="1275" b="0">
                <a:solidFill>
                  <a:srgbClr val="D6E1E9"/>
                </a:solidFill>
              </a:rPr>
              <a:t>trước khi gửi 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959F062-4F5D-4F43-A6BD-FB621B2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B5E02BD-903D-4AF5-8A11-0EB9476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7715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FCAEE1B-498B-4CC5-AFEA-E3177BFF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131E21C-F30C-4824-9402-20082AF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05 · LỰA CHỌN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23BB7D-56F9-4AC8-B3A9-438716A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Active Recall là phương án duy nhất cân bằng impact và khả thi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B204A354-673C-47D1-AC8B-884F9AAC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993593-4128-4120-A18C-D52294C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37D"/>
                </a:solidFill>
              </a:defRPr>
            </a:pPr>
            <a:r>
              <a:rPr sz="975" b="1">
                <a:solidFill>
                  <a:srgbClr val="68737D"/>
                </a:solidFill>
              </a:rPr>
              <a:t>IMPACT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AED88A-3D3D-4992-866F-326406B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7D"/>
                </a:solidFill>
              </a:defRPr>
            </a:pPr>
            <a:r>
              <a:rPr sz="900" b="1">
                <a:solidFill>
                  <a:srgbClr val="68737D"/>
                </a:solidFill>
              </a:rPr>
              <a:t>CAO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8E4261-7228-40B2-908B-DBD5333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7D"/>
                </a:solidFill>
              </a:defRPr>
            </a:pPr>
            <a:r>
              <a:rPr sz="900" b="1">
                <a:solidFill>
                  <a:srgbClr val="68737D"/>
                </a:solidFill>
              </a:rPr>
              <a:t>THẤP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D802D4-CBAA-4278-BBC7-23C5474F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7D"/>
                </a:solidFill>
              </a:defRPr>
            </a:pPr>
            <a:r>
              <a:rPr sz="900" b="1">
                <a:solidFill>
                  <a:srgbClr val="68737D"/>
                </a:solidFill>
              </a:rPr>
              <a:t>KHÓ BUILD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1C9EA1-4258-497F-8B1D-4224E2B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19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7D"/>
                </a:solidFill>
              </a:defRPr>
            </a:pPr>
            <a:r>
              <a:rPr sz="900" b="1">
                <a:solidFill>
                  <a:srgbClr val="68737D"/>
                </a:solidFill>
              </a:rPr>
              <a:t>DỄ BUILD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1294BB0F-BF1C-40B9-B045-308F9BD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D99B51E5-43CC-40F4-A491-CB8C1392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6DD1BA39-15A6-42A3-932C-6A5D00F3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4EBD89-5AF9-4207-A763-AA7892E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ACTIVE RECALL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1E396D-8CA5-446B-B9DC-CD4196FA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E9DE"/>
                </a:solidFill>
              </a:defRPr>
            </a:pPr>
            <a:r>
              <a:rPr sz="1200" b="0">
                <a:solidFill>
                  <a:srgbClr val="FFE9DE"/>
                </a:solidFill>
              </a:rPr>
              <a:t>~1.000 HV · 2–3 lần/tuần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F23E346-B7A4-4226-885C-9AFDF719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F61BD7-3B13-4927-A7C8-855CEDE7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FIX TUTOR LAN MAN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9E81490-F656-4C05-93CD-FA519568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Tín hiệu yếu hơn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48353115-5EA9-47C0-BD5B-2F6D670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624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D78EBA9-4653-4EBF-8D13-D66BD229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CHUYỂN DISCORD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D34BC0F-9FC4-4F27-B3B4-205B30AE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81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Ngoài phạm vi VLearn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E8D13F9-3306-4167-B9B1-52F9D41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517118-F3B2-434F-94D0-C9221A0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9184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B635A743-C82F-46EC-8438-C126C414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35DED3-D5C8-4BF4-92BC-16EA3DB3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06 · PRODUCT WORKFLOW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6E4065-0A22-4BAA-8463-0EE7BB9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Năm bước tạo một vòng học ngắn, có căn cứ và có quyền kiểm soát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3E748D0D-1ADA-4053-A9F9-5A4EC7F4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4F21805-EBE2-4438-BD5B-B4EBBA1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01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34D7BEFC-2E44-4F94-AC4D-1F9306A0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847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ACE0F1-C4CD-4812-8846-4AEFA193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Chọn section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453BB3-0DFD-44F7-9465-49FDF05E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Nội dung vừa học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DBD6CF-9613-402D-A0B6-A9E75E6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33570E0-627D-419F-9EEF-0CADF29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71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C93E744-AAB0-41A3-8048-417A4D3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1847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A18B20-CCC7-4321-9D9E-C7620E3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Sinh quiz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FAE938-C227-4F9D-A66C-B5221F6E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3 câu tình huống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40FAF6-E546-4928-BEEF-2083C0DE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BCD7A8-46CF-491D-8AB0-A3EC9EC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EFE4BFAF-613C-4334-8E22-432FF89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1847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E077804-DD9B-4E06-AA55-3E1AB16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Chấm &amp; bắt lỗi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6F7FFD-6AF0-4CC4-8143-6319E2F4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433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Verdict + misconception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F33EEBB-24B9-4AFF-9591-8B332E3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C6E5C9-A353-4ECA-A3F6-E9DDB0B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5A0CF402-F365-4BD8-8976-3D3885D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1847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2D7BAEE-B8D3-4E09-B913-7F338418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Trace nguồn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9CA8400-E72D-44C6-B788-4AD8D8A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[Txx-xxx]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7D182C9-37E5-41C5-BB63-8EF82F0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371D625-BB4B-446F-86E6-580E01D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71700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DDFD4D4C-0196-44A7-B2F2-AD170FBD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847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DE2F5B-E005-4943-86EC-0FFF72F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Quyết định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4A37860-415E-4B35-966D-99E56F34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433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Tự gửi TA nếu cần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64BABBFA-B694-4B9A-AF45-DF23919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050423D-D26C-4257-B115-C7DBD599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D0DE"/>
                </a:solidFill>
              </a:defRPr>
            </a:pPr>
            <a:r>
              <a:rPr sz="1200" b="1">
                <a:solidFill>
                  <a:srgbClr val="BCD0DE"/>
                </a:solidFill>
              </a:rPr>
              <a:t>Nguyên tắc không đổi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84F2A8C-F4DA-4BA2-8759-C1D389B3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482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AI không làm hộ. Phản hồi phải trace được. Escalation luôn do học viên quyết định.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7F0C7A0-BA76-4E41-A87D-5C58371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F2D7FE3-7849-465E-B8D2-BB2FC60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2311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A60678E8-6096-4C22-B259-7459709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D5295DA-49C7-4A08-8C1F-04FC238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07 · AI DECISION WORKFLOW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F80F7E-F789-48C0-9436-467296C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Bốn cổng kiểm tra giảm dần rủi ro trước khi chấm đúng/sai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EFFAD58-EB41-4B3E-ACA0-F4B7278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0B4FD3C-975C-4B49-8AEE-9302ABE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0858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2B447C-17C5-4190-8B9B-45A4D70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80FE14-02F4-4CC0-A30E-095AB8F1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Có nguồn?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4D19F4-F7FE-4261-BF70-993C41A9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Không → ungrounded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B0FEFE-82CA-44DC-87EF-325BE62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B89C"/>
                </a:solidFill>
              </a:defRPr>
            </a:pPr>
            <a:r>
              <a:rPr sz="1350" b="1">
                <a:solidFill>
                  <a:srgbClr val="43B89C"/>
                </a:solidFill>
              </a:rPr>
              <a:t>0 citation bịa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BCBD979-FC5D-4119-A9D6-5C971B5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954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059B4081-6606-4E36-B5CB-D303ECB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0858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A04C86-AAB1-406A-BE49-B4815984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DE584C-9ADE-4326-8768-8F21B5C6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Đủ rõ?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DCE39A-61E7-47D3-8422-A4C5DE0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Không → hỏi lại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88CEACD-58EB-431F-9577-DAFBED4D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Tránh đoán intent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FB05F9FC-3F19-4D09-9BAA-31F253F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954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C2E9031-25A1-46EB-868B-AC2859A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10858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A631D89-6F02-404F-9BAE-FCD5C2C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F42D84B-735B-4BDB-85AF-66F8B4ED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Đúng scope?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6076CFA-FB4A-4EF4-95D5-1EF3EE23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Không → từ chối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CB6EF4F-2172-44C9-8A91-E566F12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Không làm hộ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CFEEFEB9-5CB7-4255-8F28-9A70F46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954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AA32A7D3-5485-4441-B723-BEFFDF3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858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26EA533-75E2-4043-A31E-6F2EF855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250306E-308A-4061-A5FF-2FAA7514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Đúng khái niệm?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1F0211A-DD48-4DED-A066-C5F3FC26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Sai → misconception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595169A-6FEA-410F-8B6E-85B5D87A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Trích nguồn sửa sai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E4453A74-CB5F-4302-8F38-C9A49D7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954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12F8778-7588-4B33-97EF-DA653E1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737D"/>
                </a:solidFill>
              </a:defRPr>
            </a:pPr>
            <a:r>
              <a:rPr sz="1050" b="1">
                <a:solidFill>
                  <a:srgbClr val="68737D"/>
                </a:solidFill>
              </a:rPr>
              <a:t>Output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9E6EBB1-B115-47CC-96E6-59EC4B6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72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verdict  ·  misconception_name  ·  citation  ·  feedback_to_student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4B93C296-4BCD-46F0-842D-6040EF7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A7C5D32-609A-4E0C-B226-443D044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7712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6599D4E6-B23E-4DCC-A113-BEDFC19F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68370C-61E1-45FE-9F1C-45C88EB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08 · SYSTEM WORKFLOW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382DC9-E26D-4DC7-9D9A-1DC074A6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Luồng dữ liệu giữ API key ở server và grounding ở nội dung bài học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55A80861-CAB2-4744-B3ED-EC2111F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1749FBD-DDB9-4B5F-B394-95060FC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847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3F09F2-FEAA-4B85-811D-293246BC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</a:defRPr>
            </a:pPr>
            <a:r>
              <a:rPr sz="1275" b="1">
                <a:solidFill>
                  <a:srgbClr val="68737D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F0D263-5372-4DE5-B3CF-D6E9FBF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Browser UI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874D81-E645-4A46-8592-196D9357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Slide + quiz + state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B212E2-7D7E-4939-8523-E9FFBC81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5BAC4E2-6F90-4FA0-8C88-45A28E9A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1847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A6A9F3-CF22-48D6-9BB6-0B6D6EA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</a:defRPr>
            </a:pPr>
            <a:r>
              <a:rPr sz="1275" b="1">
                <a:solidFill>
                  <a:srgbClr val="68737D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CB39C6-9014-4F5B-A449-3CD3689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Express proxy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53FB02-5CCC-4268-82F3-1F762DB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Giữ key phía server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966228-08AF-44F4-92A7-38E334E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5D2B953-B5DF-48A2-A88B-D443F05E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847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32C4EA-31C3-4E5A-85DA-EAFD22C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</a:defRPr>
            </a:pPr>
            <a:r>
              <a:rPr sz="1275" b="1">
                <a:solidFill>
                  <a:srgbClr val="68737D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52248B7-F290-48F0-8452-26A8D238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Prompt layer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9BFFE3-393A-4753-9ADB-4BB62554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4 lớp kiểm tra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4F509B-CDA9-4972-A16F-EACAC859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99FA1AE5-0E97-47AC-ACED-F635E564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76500"/>
            <a:ext cx="1847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3494FEC-B1BE-4DE6-9097-38A76BC2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37D"/>
                </a:solidFill>
              </a:defRPr>
            </a:pPr>
            <a:r>
              <a:rPr sz="1275" b="1">
                <a:solidFill>
                  <a:srgbClr val="68737D"/>
                </a:solidFill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7C843CA-62FF-42F2-BBC4-DB577EDD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Knowledge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D94A17F-4497-4543-A7AE-594C48A8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Text theo slide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B74FE95-EC70-440C-BD48-9750089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9D6F7B4F-BFA4-46F9-952F-9AF962CD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847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A216D19-4D1C-4035-BCE9-6AAE090F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C9920E0-AAB1-422C-8A6D-F1E62FD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Gemini API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EF2E8A1-2614-43B6-8EBD-F9DDF3A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385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1E9"/>
                </a:solidFill>
              </a:defRPr>
            </a:pPr>
            <a:r>
              <a:rPr sz="1125" b="0">
                <a:solidFill>
                  <a:srgbClr val="D6E1E9"/>
                </a:solidFill>
              </a:rPr>
              <a:t>Sinh/chấm quiz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16DD8B7-81E3-4287-B334-573D4EBA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POST /api/generate-quiz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525AF56-F32D-4EE3-94F9-31C1DF4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7D"/>
                </a:solidFill>
              </a:defRPr>
            </a:pPr>
            <a:r>
              <a:rPr sz="1350" b="0">
                <a:solidFill>
                  <a:srgbClr val="68737D"/>
                </a:solidFill>
              </a:rPr>
              <a:t>Model chạy thật · UI hỏi đáp phụ vẫn là mock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B79EBF5-F3B3-4003-BA9C-C1014CF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F81146D-BE2E-4971-B03C-BB0A700E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2789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42188A7-22CB-450D-A0CC-4580D998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FF13877-DE08-4340-A11C-341A97E4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09 · KẾT QUẢ EVAL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9A428D1-BAE8-486D-896A-3A541585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70% exact-match: chưa đạt quality bar, nhưng không bịa citation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D88A35B-BD75-4229-A86B-983515F8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435C12-7158-425E-9A04-0F7B5F11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D64545"/>
                </a:solidFill>
              </a:defRPr>
            </a:pPr>
            <a:r>
              <a:rPr sz="5550" b="1">
                <a:solidFill>
                  <a:srgbClr val="D64545"/>
                </a:solidFill>
              </a:rPr>
              <a:t>70%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EA2FB4-7D1E-46B7-AA69-A2F46D81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14 / 20 case pass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D91B03CF-15F3-4CA6-8685-9254F5C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6FCC1D3-F45C-4DB1-8686-EED856C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506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0917538-9A03-4B83-BD29-EB3E3269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5265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388620-F486-40C7-802B-5815BB47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813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85%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01245D-5FBD-435B-81A3-1AC9C69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24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737D"/>
                </a:solidFill>
              </a:defRPr>
            </a:pPr>
            <a:r>
              <a:rPr sz="900" b="1">
                <a:solidFill>
                  <a:srgbClr val="68737D"/>
                </a:solidFill>
              </a:rPr>
              <a:t>QUALITY BAR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E105130-9B91-467D-A937-FC0DB79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8AF7BD-41CD-4F4C-AA5F-34DB1FF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3B89C"/>
                </a:solidFill>
              </a:defRPr>
            </a:pPr>
            <a:r>
              <a:rPr sz="4350" b="1">
                <a:solidFill>
                  <a:srgbClr val="43B89C"/>
                </a:solidFill>
              </a:rPr>
              <a:t>14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6714E1A-8E9E-4062-A2FE-81ABEE0B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Pass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077E16-23B3-4CBD-9060-64DB8CB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Exact verdict + citation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C1CB66D-F416-4AD4-A6EA-D0E6E1F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64545"/>
                </a:solidFill>
              </a:defRPr>
            </a:pPr>
            <a:r>
              <a:rPr sz="4350" b="1">
                <a:solidFill>
                  <a:srgbClr val="D64545"/>
                </a:solidFill>
              </a:rPr>
              <a:t>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F971907-D004-43CF-A575-DA79EF8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6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Fail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301980-FF48-4502-8693-F644CABB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81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1 hiểu sai + 5 format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4580AC5-104B-4472-933A-868C9F5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43B89C"/>
                </a:solidFill>
              </a:defRPr>
            </a:pPr>
            <a:r>
              <a:rPr sz="4350" b="1">
                <a:solidFill>
                  <a:srgbClr val="43B89C"/>
                </a:solidFill>
              </a:rPr>
              <a:t>0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A71BE87-2DB6-4B5A-A355-E571EA3D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6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Citation bịa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0F5F35-B9B8-42C0-91A6-0C285AB9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81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Không có mã ngoài nguồn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6F6F2CD-D7F8-46CC-A197-B9CFD5F4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6B35"/>
                </a:solidFill>
              </a:defRPr>
            </a:pPr>
            <a:r>
              <a:rPr sz="4350" b="1">
                <a:solidFill>
                  <a:srgbClr val="FF6B35"/>
                </a:solidFill>
              </a:rPr>
              <a:t>+15đ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C1CAA9A-F3F2-4AEF-B65D-80A935BC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625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Khoảng cách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2D185F-6107-4899-9F5C-7B694A9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58165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7D"/>
                </a:solidFill>
              </a:defRPr>
            </a:pPr>
            <a:r>
              <a:rPr sz="1050" b="0">
                <a:solidFill>
                  <a:srgbClr val="68737D"/>
                </a:solidFill>
              </a:rPr>
              <a:t>70% → 85%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FFA6674-D0C5-4F48-804B-DB84879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A2B52E0-E880-4544-B6CB-B0B5C7F8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82277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2D81128F-A229-4AD9-B1E8-673D65C5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5730BD2-B113-469D-A7F3-FA72727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10 · FAILURE WORKFLOW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B0A408-0609-4A76-80F8-BBEE0BAB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Năm trong sáu lỗi có thể xử lý bằng quy tắc output rõ hơn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0E32AC64-ED16-42B9-9388-4A01283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8810B3-4BCB-489D-A3E7-8AFFC899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4545"/>
                </a:solidFill>
              </a:defRPr>
            </a:pPr>
            <a:r>
              <a:rPr sz="1800" b="1">
                <a:solidFill>
                  <a:srgbClr val="D64545"/>
                </a:solidFill>
              </a:rPr>
              <a:t>6 CASE FAIL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1A81A9E-C1DE-406F-892A-9F2E9C94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46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4F37FB0-6A82-4520-BC08-83E2B11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2876550"/>
            <a:ext cx="4381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E222913-EF72-4384-AF73-BDF1A93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876550"/>
            <a:ext cx="292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8C9B34-6361-47CA-A845-0F1D1F9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46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C6C1B5-3A1F-432F-A475-126108A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30289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8643EB-D663-47B1-9865-821CBF3D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028950"/>
            <a:ext cx="292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4048A5-6C17-42E3-91B3-26B2272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</a:defRPr>
            </a:pPr>
            <a:r>
              <a:rPr sz="1350" b="1">
                <a:solidFill>
                  <a:srgbClr val="D64545"/>
                </a:solidFill>
              </a:rPr>
              <a:t>Bỏ sót misconception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C6B42F-B3FF-4CCB-B330-BA6F2A09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43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Citation lệch / thừa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721539-7BB5-4998-A1A7-056A6EB6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Sai quy tắc theo verdict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D25F147-A89B-414E-A20A-C3330DDC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C8D713-03C2-40E6-AC4E-5294618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FIX FLOW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E210EF-4458-4AA9-8ACA-A46E431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Diễn giải lại ý học viên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5224118-4F09-4867-BB73-C116327A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5A873D-0944-4D62-ABC8-63FF7FB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62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Chọn đúng 1 citation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3688A99-C8CF-4A7E-B283-901870B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05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2A625D-B17F-4BE2-A764-E883132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Áp quy tắc theo verdict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1D352F7-99ED-4F5E-8136-8C48A46B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728DFE-4C58-4130-8E70-70BC05A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4511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855A87F-55B3-4BC9-BB75-E0F0101F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739BFC-1B9B-4490-A422-8A25F9B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11 · DATA → DESIGN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21A741B-CDB6-466A-B811-BC3CB67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Mỗi thay đổi giao diện đều trace ngược về một tín hiệu người dùng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8CCDBE0-B04E-4D67-8D18-9C66E76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F1C9F5-0B0F-448E-8E64-93376DBE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37D"/>
                </a:solidFill>
              </a:defRPr>
            </a:pPr>
            <a:r>
              <a:rPr sz="975" b="1">
                <a:solidFill>
                  <a:srgbClr val="68737D"/>
                </a:solidFill>
              </a:rPr>
              <a:t>TÍN HIỆU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4D2EEE-A05E-4BB9-8551-B994D7A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37D"/>
                </a:solidFill>
              </a:defRPr>
            </a:pPr>
            <a:r>
              <a:rPr sz="975" b="1">
                <a:solidFill>
                  <a:srgbClr val="68737D"/>
                </a:solidFill>
              </a:rPr>
              <a:t>QUYẾT ĐỊNH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364EC8-5F29-46A8-B11E-36359F00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37D"/>
                </a:solidFill>
              </a:defRPr>
            </a:pPr>
            <a:r>
              <a:rPr sz="975" b="1">
                <a:solidFill>
                  <a:srgbClr val="68737D"/>
                </a:solidFill>
              </a:rPr>
              <a:t>GIÁ TRỊ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4E6E7BC-5410-4492-9839-F3EC4A6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85D022-7B5C-42AF-9608-4D96840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32/36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7C15BC-1B53-4A89-B6C9-90F225F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52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Quiz chỉ 3 câu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F249FE-C576-4428-81C3-8F93169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7D"/>
                </a:solidFill>
              </a:defRPr>
            </a:pPr>
            <a:r>
              <a:rPr sz="1350" b="0">
                <a:solidFill>
                  <a:srgbClr val="68737D"/>
                </a:solidFill>
              </a:rPr>
              <a:t>Giảm gián đoạn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55F3CD-3FD5-4833-9C7E-378D8B3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14/36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A038D8-CE0F-4642-814A-503313A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Modal xác nhận gửi TA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6983A54-A38C-41AF-9C61-13A9FF42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7D"/>
                </a:solidFill>
              </a:defRPr>
            </a:pPr>
            <a:r>
              <a:rPr sz="1350" b="0">
                <a:solidFill>
                  <a:srgbClr val="68737D"/>
                </a:solidFill>
              </a:rPr>
              <a:t>Giữ quyền kiểm soát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8C5A8DB-B175-4564-9E9F-EAA7309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231E1F-8B74-4323-A645-9CD71E1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33/36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54F54E2-5151-4D55-A10D-A0BD2AD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Backlog lịch sử lỗi sai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34DEDB4-771A-43C5-A904-C24B0BB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7D"/>
                </a:solidFill>
              </a:defRPr>
            </a:pPr>
            <a:r>
              <a:rPr sz="1350" b="0">
                <a:solidFill>
                  <a:srgbClr val="68737D"/>
                </a:solidFill>
              </a:rPr>
              <a:t>Cá nhân hóa ôn tập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9C4506-7F2B-4CBC-A837-EE47AEB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Quote GF-10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080B5A-84E3-4656-B25D-8EF26D6C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Ưu tiên nguồn nội bộ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C44C32-8B28-40F8-87A5-4787297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7D"/>
                </a:solidFill>
              </a:defRPr>
            </a:pPr>
            <a:r>
              <a:rPr sz="1350" b="0">
                <a:solidFill>
                  <a:srgbClr val="68737D"/>
                </a:solidFill>
              </a:rPr>
              <a:t>Không đưa link ngoài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3E37B39-3FA1-4A69-B77A-FD1A3A1A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Không có quyết định nào đứng một mình.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C1DDA75-4811-4BDB-A5C4-EA8C827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989FB5-E31D-4EA4-AA09-3F73CFF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39048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3F2768C-CE55-4FA5-845D-0283615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78A23B-D9B4-4ADF-94B6-0B07714B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12 · MỨC TRƯỞNG THÀNH BẰNG CHỨNG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9839997-0FC4-40C8-80A5-69908A4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Nhu cầu đã được xác nhận; khả năng sử dụng vẫn là mắt xích còn thiếu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0A38107E-523A-46DC-9122-F6A45E9D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8838A419-375A-4740-B00C-636E70B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DC38C5-D4A1-411D-8621-E710C98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C22F00-D3A1-4E62-A724-5613662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Mining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E75F53-CF40-49C9-BCAD-BC8DEF63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</a:defRPr>
            </a:pPr>
            <a:r>
              <a:rPr sz="1200" b="0">
                <a:solidFill>
                  <a:srgbClr val="68737D"/>
                </a:solidFill>
              </a:rPr>
              <a:t>Vấn đề tồn tại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4E3B17-017C-4F78-A691-A8C60FB6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2.522 chat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5E9857-CAE1-408B-8A33-29F7F2D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B89C"/>
                </a:solidFill>
              </a:defRPr>
            </a:pPr>
            <a:r>
              <a:rPr sz="900" b="1">
                <a:solidFill>
                  <a:srgbClr val="43B89C"/>
                </a:solidFill>
              </a:rPr>
              <a:t>DONE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48F755-9D50-4D71-A947-FF86423B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529D553D-C252-4BB7-9201-5526FF1A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074F02-0470-46E3-98D2-151E120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F3D8A98-1A00-46A0-B41A-87AB11D7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Survey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4D58BD-EF32-4017-ACF4-92D2F34C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</a:defRPr>
            </a:pPr>
            <a:r>
              <a:rPr sz="1200" b="0">
                <a:solidFill>
                  <a:srgbClr val="68737D"/>
                </a:solidFill>
              </a:rPr>
              <a:t>Người học muốn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F60FD57-8F8C-45A9-A6D9-C91F16B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N=36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B71E8C6-715C-4C30-B79F-8742F79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B89C"/>
                </a:solidFill>
              </a:defRPr>
            </a:pPr>
            <a:r>
              <a:rPr sz="900" b="1">
                <a:solidFill>
                  <a:srgbClr val="43B89C"/>
                </a:solidFill>
              </a:rPr>
              <a:t>DONE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81C934-62A7-417A-B84E-B060261F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9B4B405-3E53-4FF9-B92C-AA999247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2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ECADCDF-9FAC-4264-9141-4F8314A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C14F4AD-1448-49CF-93FA-49FDE83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Eval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7777B6-0ABD-44B0-ADBC-B905F8E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86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</a:defRPr>
            </a:pPr>
            <a:r>
              <a:rPr sz="1200" b="0">
                <a:solidFill>
                  <a:srgbClr val="68737D"/>
                </a:solidFill>
              </a:rPr>
              <a:t>AI xử lý đúng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07D8863-ACF0-4A0B-BC61-5E782E4C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70%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FB3910C-0744-4A7C-AD1B-80EDA62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95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ITERATE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6BFAE3F-27DA-42B7-9864-DA49DC5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343D3D01-AA4A-43AE-9AAD-78ED89C1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1D5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375C0B8-7BED-45C5-A02D-B45C72A7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F924149-47AA-447B-8B80-E514AC9F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Usability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89363F9-487A-4C74-BB90-7E2F046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7D"/>
                </a:solidFill>
              </a:defRPr>
            </a:pPr>
            <a:r>
              <a:rPr sz="1200" b="0">
                <a:solidFill>
                  <a:srgbClr val="68737D"/>
                </a:solidFill>
              </a:rPr>
              <a:t>Người học dùng được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017003F-D82C-4694-9367-9FFCB50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64545"/>
                </a:solidFill>
              </a:defRPr>
            </a:pPr>
            <a:r>
              <a:rPr sz="2025" b="1">
                <a:solidFill>
                  <a:srgbClr val="D64545"/>
                </a:solidFill>
              </a:rPr>
              <a:t>0/5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BDC7590-3EB3-4F66-B84E-1499340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95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4545"/>
                </a:solidFill>
              </a:defRPr>
            </a:pPr>
            <a:r>
              <a:rPr sz="900" b="1">
                <a:solidFill>
                  <a:srgbClr val="D64545"/>
                </a:solidFill>
              </a:rPr>
              <a:t>MISSING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A82FAE3-37F2-4962-AB5D-FEC85A5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Ưu tiên đúng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64F04A3-0763-4C92-B0B1-B2B3A60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43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Sửa eval và hoàn thành 5 usability test trước khi mở rộng feature.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A0D951C-A058-418F-909E-EC70418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15E1ABF-8026-4696-829F-F0AC91E8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60518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6697AA2-75A1-4753-8880-00F8CC5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F1E837-5B22-412E-A038-A81DB6E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35"/>
                </a:solidFill>
              </a:defRPr>
            </a:pPr>
            <a:r>
              <a:rPr sz="900" b="1">
                <a:solidFill>
                  <a:srgbClr val="FF6B35"/>
                </a:solidFill>
              </a:rPr>
              <a:t>13 · WORKFLOW MỘT TUẦN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91BF572-2066-4E23-BE22-35F69BD9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3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Bốn chặng đóng khoảng cách từ prototype đến bằng chứng đủ mạnh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DAECC6D1-28EA-40C9-83DC-983ABAB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A3D0471-1569-42B1-BD38-E8CDF36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0489CB-4376-4F94-8EA1-F58B354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CD0DE"/>
                </a:solidFill>
              </a:defRPr>
            </a:pPr>
            <a:r>
              <a:rPr sz="975" b="1">
                <a:solidFill>
                  <a:srgbClr val="BCD0DE"/>
                </a:solidFill>
              </a:rPr>
              <a:t>DAY 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2AE48D-F6C4-44CE-BB5F-286C1D82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Sửa prompt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F34AA4-9D43-417A-B714-72A3B14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1E9"/>
                </a:solidFill>
              </a:defRPr>
            </a:pPr>
            <a:r>
              <a:rPr sz="1125" b="0">
                <a:solidFill>
                  <a:srgbClr val="D6E1E9"/>
                </a:solidFill>
              </a:rPr>
              <a:t>1 citation · restate intent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67E17D-9E85-4B59-BAF5-BCD00B3A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0ECEA05-3970-4939-9752-A07C3F5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E97563-4E75-4526-BAD3-472F7E7F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DAY 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7E12B8-BB8A-4DE1-9A16-97387119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Chạy lại eval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E5D7D8-B0A6-499D-B667-2A6D614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20 trace · giữ exact-match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91E67E-C852-493F-B17C-504E7BFD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194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1CA127A-A4D3-40A9-B576-BE61F3CC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918E3F5-4CC5-4813-87D6-E603D02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DAY 3–4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C38187-271E-4829-AD20-19E35C5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Test 5 người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74EAA0-1058-447A-83EB-0E359E9C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Task · quan sát · quote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4A12BA-F60B-4BAE-A80A-579F58C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774FCE9F-5502-42A8-9BFD-3FA7938F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647A1D-54E7-42BD-A3D1-7A42D92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DAY 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BE37467-76B0-42AD-B3F8-95553627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Chốt quyết định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A5EF1EC-11F3-4765-9418-44447625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7D"/>
                </a:solidFill>
              </a:defRPr>
            </a:pPr>
            <a:r>
              <a:rPr sz="1125" b="0">
                <a:solidFill>
                  <a:srgbClr val="68737D"/>
                </a:solidFill>
              </a:rPr>
              <a:t>Go / iterate / stop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53482BBC-1AB1-44D1-BE32-60097EA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9EC2A6F5-74F7-4ED6-9803-4DC4AF98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8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7733F61-1D83-4138-9473-7462143B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37D"/>
                </a:solidFill>
              </a:defRPr>
            </a:pPr>
            <a:r>
              <a:rPr sz="975" b="1">
                <a:solidFill>
                  <a:srgbClr val="68737D"/>
                </a:solidFill>
              </a:rPr>
              <a:t>DONE WHEN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190F4E0-2DE6-4735-8CFD-443C07B6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≥85% exact-match · 0 citation bịa · 5/5 hoàn thành flow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25625EC-7C86-409B-B71D-DE9B534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VLEARN ACTIVE RECALL · 5TUAT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646E56A-876E-42FE-BEE6-8C9F5F2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8737D"/>
                </a:solidFill>
              </a:defRPr>
            </a:pPr>
            <a:r>
              <a:rPr sz="750" b="1">
                <a:solidFill>
                  <a:srgbClr val="68737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5660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2FB682D-926F-4CDA-A644-3AC47AD9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731925-F408-40DF-96A9-9D62E36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CD0DE"/>
                </a:solidFill>
              </a:defRPr>
            </a:pPr>
            <a:r>
              <a:rPr sz="975" b="1">
                <a:solidFill>
                  <a:srgbClr val="BCD0DE"/>
                </a:solidFill>
              </a:rPr>
              <a:t>QUYẾT ĐỊNH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32975DC-0CA9-4FE8-9B03-83D8076C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Tiếp tục đầu tư,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nhưng chưa mở rộng.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B388D4-80CF-45AF-A2E8-F72492B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B89C"/>
                </a:solidFill>
              </a:defRPr>
            </a:pPr>
            <a:r>
              <a:rPr sz="1575" b="1">
                <a:solidFill>
                  <a:srgbClr val="43B89C"/>
                </a:solidFill>
              </a:rPr>
              <a:t>Nhu cầu mạnh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A7EABF-2ECB-4639-9282-8B642B6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3B89C"/>
                </a:solidFill>
              </a:defRPr>
            </a:pPr>
            <a:r>
              <a:rPr sz="1575" b="1">
                <a:solidFill>
                  <a:srgbClr val="43B89C"/>
                </a:solidFill>
              </a:rPr>
              <a:t>Prototype chạy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331921-E81E-428F-9A93-9A81D4DF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AI chưa đạt 85%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0940C1-5662-43E8-9AB3-B7C569EA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Usability còn thiếu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077CAC8-1423-423D-B15A-3A96FC24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40752A-94F5-4AB1-998B-22D1E28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CD0DE"/>
                </a:solidFill>
              </a:defRPr>
            </a:pPr>
            <a:r>
              <a:rPr sz="975" b="1">
                <a:solidFill>
                  <a:srgbClr val="BCD0DE"/>
                </a:solidFill>
              </a:rPr>
              <a:t>NEXT MOVE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A79BBD-B50B-4F69-B03C-27661EDF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Đóng chất lượng và kiểm chứng workflow trước khi thêm feature.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6A44B1-F6BA-42D4-8426-D2C80923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CD0DE"/>
                </a:solidFill>
              </a:defRPr>
            </a:pPr>
            <a:r>
              <a:rPr sz="900" b="1">
                <a:solidFill>
                  <a:srgbClr val="BCD0DE"/>
                </a:solidFill>
              </a:rPr>
              <a:t>5TUAT · VLEARN ACTIVE RECALL</a:t>
            </a:r>
          </a:p>
        </p:txBody>
      </p:sp>
    </p:spTree>
    <p:extLst>
      <p:ext uri="{BB962C8B-B14F-4D97-AF65-F5344CB8AC3E}">
        <p14:creationId xmlns:p14="http://schemas.microsoft.com/office/powerpoint/2010/main" val="1657787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2026-07-31T08:21:57.4160000Z</dcterms:created>
  <dcterms:modified xsi:type="dcterms:W3CDTF">2026-07-31T08:21:57.4160000Z</dcterms:modified>
</coreProperties>
</file>